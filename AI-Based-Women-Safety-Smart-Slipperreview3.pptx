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4" r:id="rId11"/>
    <p:sldId id="265" r:id="rId12"/>
    <p:sldId id="266" r:id="rId13"/>
  </p:sldIdLst>
  <p:sldSz cx="14630400" cy="8229600"/>
  <p:notesSz cx="8229600" cy="14630400"/>
  <p:embeddedFontLst>
    <p:embeddedFont>
      <p:font typeface="Arial Black" panose="020B0A04020102020204" pitchFamily="34" charset="0"/>
      <p:bold r:id="rId15"/>
    </p:embeddedFont>
    <p:embeddedFont>
      <p:font typeface="Eras Bold ITC" panose="020B0907030504020204" pitchFamily="34" charset="0"/>
      <p:regular r:id="rId16"/>
    </p:embeddedFont>
    <p:embeddedFont>
      <p:font typeface="Fraunces Extra Bold" panose="020B0604020202020204" charset="0"/>
      <p:regular r:id="rId17"/>
    </p:embeddedFont>
    <p:embeddedFont>
      <p:font typeface="Nobile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32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7751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Relationship Id="rId9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5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hyperlink" Target="https://ieeexplore.ieee.org/document/8617066" TargetMode="External"/><Relationship Id="rId7" Type="http://schemas.openxmlformats.org/officeDocument/2006/relationships/hyperlink" Target="https://github.com/tinyml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developer.android.com/" TargetMode="External"/><Relationship Id="rId5" Type="http://schemas.openxmlformats.org/officeDocument/2006/relationships/hyperlink" Target="https://www.espressif.com/en/products/socs/esp32" TargetMode="External"/><Relationship Id="rId4" Type="http://schemas.openxmlformats.org/officeDocument/2006/relationships/hyperlink" Target="https://www.arduino.cc/reference/e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E8F3E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7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186035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AI-Based Women Safety Smart Slipper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3618071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Intelligent Health Monitoring and Safety Device — automatic panic detection, real-time location tracking, and instant emergency alerts built into a wearable form factor.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93790" y="4961930"/>
            <a:ext cx="1598771" cy="426244"/>
          </a:xfrm>
          <a:prstGeom prst="roundRect">
            <a:avLst>
              <a:gd name="adj" fmla="val 38315"/>
            </a:avLst>
          </a:prstGeom>
          <a:solidFill>
            <a:srgbClr val="DDEEE0"/>
          </a:solidFill>
          <a:ln/>
        </p:spPr>
      </p:sp>
      <p:sp>
        <p:nvSpPr>
          <p:cNvPr id="7" name="Text 4"/>
          <p:cNvSpPr/>
          <p:nvPr/>
        </p:nvSpPr>
        <p:spPr>
          <a:xfrm>
            <a:off x="929878" y="5029914"/>
            <a:ext cx="132659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TEAM PROJECT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93790" y="5643324"/>
            <a:ext cx="7835203" cy="557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Team: Shruti Kumari Jaiswal · Shiv Kumar Gupta · Surya Prabha B · </a:t>
            </a:r>
            <a:r>
              <a:rPr lang="en-US" sz="2000" b="1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Sugandeepak</a:t>
            </a:r>
            <a:r>
              <a:rPr lang="en-US" sz="20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V</a:t>
            </a:r>
            <a:endParaRPr lang="en-US" sz="20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E8F3E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1633" y="161449"/>
            <a:ext cx="5271135" cy="790670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3790" y="737473"/>
            <a:ext cx="1641634" cy="413147"/>
          </a:xfrm>
          <a:prstGeom prst="roundRect">
            <a:avLst>
              <a:gd name="adj" fmla="val 37553"/>
            </a:avLst>
          </a:prstGeom>
          <a:noFill/>
          <a:ln w="7620">
            <a:solidFill>
              <a:srgbClr val="43895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30592" y="809625"/>
            <a:ext cx="1368028" cy="26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REVIEW 1 RECAP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793790" y="1232416"/>
            <a:ext cx="7351395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The Problem We're Solving</a:t>
            </a:r>
            <a:endParaRPr lang="en-US" sz="4200" dirty="0"/>
          </a:p>
        </p:txBody>
      </p:sp>
      <p:sp>
        <p:nvSpPr>
          <p:cNvPr id="7" name="Shape 4"/>
          <p:cNvSpPr/>
          <p:nvPr/>
        </p:nvSpPr>
        <p:spPr>
          <a:xfrm>
            <a:off x="793790" y="2212896"/>
            <a:ext cx="7556421" cy="1623298"/>
          </a:xfrm>
          <a:prstGeom prst="roundRect">
            <a:avLst>
              <a:gd name="adj" fmla="val 9013"/>
            </a:avLst>
          </a:prstGeom>
          <a:solidFill>
            <a:srgbClr val="FAFFFA"/>
          </a:solidFill>
          <a:ln w="30480">
            <a:solidFill>
              <a:srgbClr val="CED9C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3310" y="2212896"/>
            <a:ext cx="121920" cy="1623298"/>
          </a:xfrm>
          <a:prstGeom prst="roundRect">
            <a:avLst>
              <a:gd name="adj" fmla="val 159070"/>
            </a:avLst>
          </a:prstGeom>
          <a:solidFill>
            <a:srgbClr val="438951"/>
          </a:solidFill>
          <a:ln/>
        </p:spPr>
      </p:sp>
      <p:sp>
        <p:nvSpPr>
          <p:cNvPr id="9" name="Text 6"/>
          <p:cNvSpPr/>
          <p:nvPr/>
        </p:nvSpPr>
        <p:spPr>
          <a:xfrm>
            <a:off x="1131094" y="2458760"/>
            <a:ext cx="4069913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Delayed Emergency Response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1131094" y="2918103"/>
            <a:ext cx="6973253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Current systems rely on manual activation — critical seconds are lost when a woman is in distress and cannot operate a device.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793790" y="4040862"/>
            <a:ext cx="7556421" cy="1623298"/>
          </a:xfrm>
          <a:prstGeom prst="roundRect">
            <a:avLst>
              <a:gd name="adj" fmla="val 9013"/>
            </a:avLst>
          </a:prstGeom>
          <a:solidFill>
            <a:srgbClr val="FAFFFA"/>
          </a:solidFill>
          <a:ln w="30480">
            <a:solidFill>
              <a:srgbClr val="CED9C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63310" y="4040862"/>
            <a:ext cx="121920" cy="1623298"/>
          </a:xfrm>
          <a:prstGeom prst="roundRect">
            <a:avLst>
              <a:gd name="adj" fmla="val 159070"/>
            </a:avLst>
          </a:prstGeom>
          <a:solidFill>
            <a:srgbClr val="438951"/>
          </a:solidFill>
          <a:ln/>
        </p:spPr>
      </p:sp>
      <p:sp>
        <p:nvSpPr>
          <p:cNvPr id="13" name="Text 10"/>
          <p:cNvSpPr/>
          <p:nvPr/>
        </p:nvSpPr>
        <p:spPr>
          <a:xfrm>
            <a:off x="1131094" y="4286726"/>
            <a:ext cx="427601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No Automatic Location Sharing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1131094" y="4746069"/>
            <a:ext cx="6973253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Existing apps require user input to share live location, which is often impossible during a panic situation.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793790" y="5868829"/>
            <a:ext cx="7556421" cy="1623298"/>
          </a:xfrm>
          <a:prstGeom prst="roundRect">
            <a:avLst>
              <a:gd name="adj" fmla="val 9013"/>
            </a:avLst>
          </a:prstGeom>
          <a:solidFill>
            <a:srgbClr val="FAFFFA"/>
          </a:solidFill>
          <a:ln w="30480">
            <a:solidFill>
              <a:srgbClr val="CED9C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63310" y="5868829"/>
            <a:ext cx="121920" cy="1623298"/>
          </a:xfrm>
          <a:prstGeom prst="roundRect">
            <a:avLst>
              <a:gd name="adj" fmla="val 159070"/>
            </a:avLst>
          </a:prstGeom>
          <a:solidFill>
            <a:srgbClr val="438951"/>
          </a:solidFill>
          <a:ln/>
        </p:spPr>
      </p:sp>
      <p:sp>
        <p:nvSpPr>
          <p:cNvPr id="17" name="Text 14"/>
          <p:cNvSpPr/>
          <p:nvPr/>
        </p:nvSpPr>
        <p:spPr>
          <a:xfrm>
            <a:off x="1131094" y="6114693"/>
            <a:ext cx="3137416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Hands-Free Safety Gap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1131094" y="6574036"/>
            <a:ext cx="6973253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Women in isolated or threatening environments need a solution that works without any conscious interaction.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41271"/>
            <a:ext cx="2026682" cy="426244"/>
          </a:xfrm>
          <a:prstGeom prst="roundRect">
            <a:avLst>
              <a:gd name="adj" fmla="val 38315"/>
            </a:avLst>
          </a:prstGeom>
          <a:solidFill>
            <a:srgbClr val="DDEEE0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709255"/>
            <a:ext cx="175450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PROJECT OBJECTIVE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158240"/>
            <a:ext cx="721054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What We Set Out to Build</a:t>
            </a:r>
            <a:endParaRPr lang="en-US" sz="4450" dirty="0"/>
          </a:p>
        </p:txBody>
      </p:sp>
      <p:sp>
        <p:nvSpPr>
          <p:cNvPr id="5" name="Shape 3"/>
          <p:cNvSpPr/>
          <p:nvPr/>
        </p:nvSpPr>
        <p:spPr>
          <a:xfrm>
            <a:off x="793790" y="2207181"/>
            <a:ext cx="6407944" cy="2577108"/>
          </a:xfrm>
          <a:prstGeom prst="roundRect">
            <a:avLst>
              <a:gd name="adj" fmla="val 7921"/>
            </a:avLst>
          </a:prstGeom>
          <a:solidFill>
            <a:srgbClr val="E8F3E8"/>
          </a:solidFill>
          <a:ln/>
        </p:spPr>
      </p:sp>
      <p:sp>
        <p:nvSpPr>
          <p:cNvPr id="6" name="Shape 4"/>
          <p:cNvSpPr/>
          <p:nvPr/>
        </p:nvSpPr>
        <p:spPr>
          <a:xfrm>
            <a:off x="1020604" y="243399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38951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7770" y="2621042"/>
            <a:ext cx="306110" cy="3061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0604" y="33412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Wearable Safety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20604" y="3831669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slipper-embedded device providing continuous, unobtrusive protection.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428548" y="2207181"/>
            <a:ext cx="6408063" cy="2577108"/>
          </a:xfrm>
          <a:prstGeom prst="roundRect">
            <a:avLst>
              <a:gd name="adj" fmla="val 7921"/>
            </a:avLst>
          </a:prstGeom>
          <a:solidFill>
            <a:srgbClr val="E8F3E8"/>
          </a:solidFill>
          <a:ln/>
        </p:spPr>
      </p:sp>
      <p:sp>
        <p:nvSpPr>
          <p:cNvPr id="11" name="Shape 8"/>
          <p:cNvSpPr/>
          <p:nvPr/>
        </p:nvSpPr>
        <p:spPr>
          <a:xfrm>
            <a:off x="7655362" y="243399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38951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42528" y="2621042"/>
            <a:ext cx="306110" cy="3061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55362" y="3341251"/>
            <a:ext cx="304442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Auto Panic Detection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7655362" y="3831669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AI-driven analysis of physiological and motion data to identify distress automatically.</a:t>
            </a:r>
            <a:endParaRPr lang="en-US" sz="1750" dirty="0"/>
          </a:p>
        </p:txBody>
      </p:sp>
      <p:sp>
        <p:nvSpPr>
          <p:cNvPr id="15" name="Shape 11"/>
          <p:cNvSpPr/>
          <p:nvPr/>
        </p:nvSpPr>
        <p:spPr>
          <a:xfrm>
            <a:off x="793790" y="5011103"/>
            <a:ext cx="6407944" cy="2577108"/>
          </a:xfrm>
          <a:prstGeom prst="roundRect">
            <a:avLst>
              <a:gd name="adj" fmla="val 7921"/>
            </a:avLst>
          </a:prstGeom>
          <a:solidFill>
            <a:srgbClr val="E8F3E8"/>
          </a:solidFill>
          <a:ln/>
        </p:spPr>
      </p:sp>
      <p:sp>
        <p:nvSpPr>
          <p:cNvPr id="16" name="Shape 12"/>
          <p:cNvSpPr/>
          <p:nvPr/>
        </p:nvSpPr>
        <p:spPr>
          <a:xfrm>
            <a:off x="1020604" y="5237917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38951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7770" y="5424964"/>
            <a:ext cx="306110" cy="30611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20604" y="6145173"/>
            <a:ext cx="286845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Real-Time Tracking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1020604" y="6635591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GPS module shares live location with emergency contacts instantly.</a:t>
            </a:r>
            <a:endParaRPr lang="en-US" sz="1750" dirty="0"/>
          </a:p>
        </p:txBody>
      </p:sp>
      <p:sp>
        <p:nvSpPr>
          <p:cNvPr id="20" name="Shape 15"/>
          <p:cNvSpPr/>
          <p:nvPr/>
        </p:nvSpPr>
        <p:spPr>
          <a:xfrm>
            <a:off x="7428548" y="5011103"/>
            <a:ext cx="6408063" cy="2577108"/>
          </a:xfrm>
          <a:prstGeom prst="roundRect">
            <a:avLst>
              <a:gd name="adj" fmla="val 7921"/>
            </a:avLst>
          </a:prstGeom>
          <a:solidFill>
            <a:srgbClr val="E8F3E8"/>
          </a:solidFill>
          <a:ln/>
        </p:spPr>
      </p:sp>
      <p:sp>
        <p:nvSpPr>
          <p:cNvPr id="21" name="Shape 16"/>
          <p:cNvSpPr/>
          <p:nvPr/>
        </p:nvSpPr>
        <p:spPr>
          <a:xfrm>
            <a:off x="7655362" y="5237917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38951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42528" y="5424964"/>
            <a:ext cx="306110" cy="30611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55362" y="61451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Instant Alerts</a:t>
            </a:r>
            <a:endParaRPr lang="en-US" sz="2200" dirty="0"/>
          </a:p>
        </p:txBody>
      </p:sp>
      <p:sp>
        <p:nvSpPr>
          <p:cNvPr id="24" name="Text 18"/>
          <p:cNvSpPr/>
          <p:nvPr/>
        </p:nvSpPr>
        <p:spPr>
          <a:xfrm>
            <a:off x="7655362" y="6635591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GSM-triggered SOS messages and calls sent without any user action.</a:t>
            </a:r>
            <a:endParaRPr lang="en-US" sz="17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A7D0A1E-F93A-DB33-CDA2-AEA34CE5F3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75476" y="7607866"/>
            <a:ext cx="1954924" cy="60716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9337" y="326112"/>
            <a:ext cx="908804" cy="198715"/>
          </a:xfrm>
          <a:prstGeom prst="roundRect">
            <a:avLst>
              <a:gd name="adj" fmla="val 42377"/>
            </a:avLst>
          </a:prstGeom>
          <a:noFill/>
          <a:ln w="7620">
            <a:solidFill>
              <a:srgbClr val="4389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7085" y="368737"/>
            <a:ext cx="753308" cy="113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00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SYSTEM DESIGN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09337" y="548878"/>
            <a:ext cx="3059787" cy="365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651113" y="7119869"/>
            <a:ext cx="6763226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6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smart slipper operates as an end-to-end safety pipeline — from</a:t>
            </a:r>
          </a:p>
          <a:p>
            <a:pPr marL="0" indent="0" algn="l">
              <a:lnSpc>
                <a:spcPts val="1100"/>
              </a:lnSpc>
              <a:buNone/>
            </a:pPr>
            <a:endParaRPr lang="en-US" sz="1600" b="1" dirty="0">
              <a:solidFill>
                <a:srgbClr val="405449"/>
              </a:solidFill>
              <a:latin typeface="Nobile" pitchFamily="34" charset="0"/>
              <a:ea typeface="Nobile" pitchFamily="34" charset="-122"/>
              <a:cs typeface="Nobile" pitchFamily="34" charset="-120"/>
            </a:endParaRPr>
          </a:p>
          <a:p>
            <a:pPr marL="0" indent="0" algn="l">
              <a:lnSpc>
                <a:spcPts val="1100"/>
              </a:lnSpc>
              <a:buNone/>
            </a:pPr>
            <a:r>
              <a:rPr lang="en-US" sz="16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raw sensor data to emergency notification — with zero manual</a:t>
            </a:r>
          </a:p>
          <a:p>
            <a:pPr marL="0" indent="0" algn="l">
              <a:lnSpc>
                <a:spcPts val="1100"/>
              </a:lnSpc>
              <a:buNone/>
            </a:pPr>
            <a:endParaRPr lang="en-US" sz="1600" b="1" dirty="0">
              <a:solidFill>
                <a:srgbClr val="405449"/>
              </a:solidFill>
              <a:latin typeface="Nobile" pitchFamily="34" charset="0"/>
              <a:ea typeface="Nobile" pitchFamily="34" charset="-122"/>
              <a:cs typeface="Nobile" pitchFamily="34" charset="-120"/>
            </a:endParaRPr>
          </a:p>
          <a:p>
            <a:pPr marL="0" indent="0" algn="l">
              <a:lnSpc>
                <a:spcPts val="1100"/>
              </a:lnSpc>
              <a:buNone/>
            </a:pPr>
            <a:r>
              <a:rPr lang="en-US" sz="16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intervention required from the user.</a:t>
            </a:r>
            <a:endParaRPr lang="en-US" sz="1600" b="1" dirty="0"/>
          </a:p>
        </p:txBody>
      </p:sp>
      <p:sp>
        <p:nvSpPr>
          <p:cNvPr id="8" name="Text 5"/>
          <p:cNvSpPr/>
          <p:nvPr/>
        </p:nvSpPr>
        <p:spPr>
          <a:xfrm>
            <a:off x="789265" y="4469606"/>
            <a:ext cx="6266378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endParaRPr lang="en-US" sz="9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4181" y="626805"/>
            <a:ext cx="6266378" cy="6266378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3587" y="2079128"/>
            <a:ext cx="6763226" cy="676322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40C61B2-DE97-CC9D-DF5A-CC9534D7CD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89835" y="7362704"/>
            <a:ext cx="2791215" cy="8668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00207"/>
            <a:ext cx="1122640" cy="343614"/>
          </a:xfrm>
          <a:prstGeom prst="roundRect">
            <a:avLst>
              <a:gd name="adj" fmla="val 40400"/>
            </a:avLst>
          </a:prstGeom>
          <a:solidFill>
            <a:srgbClr val="DDEEE0"/>
          </a:solidFill>
          <a:ln/>
        </p:spPr>
      </p:sp>
      <p:sp>
        <p:nvSpPr>
          <p:cNvPr id="3" name="Text 1"/>
          <p:cNvSpPr/>
          <p:nvPr/>
        </p:nvSpPr>
        <p:spPr>
          <a:xfrm>
            <a:off x="909399" y="757952"/>
            <a:ext cx="891421" cy="228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HARDWARE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93790" y="1109305"/>
            <a:ext cx="6952417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Core Hardware Components</a:t>
            </a:r>
            <a:endParaRPr lang="en-US" sz="3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957507"/>
            <a:ext cx="1161931" cy="116193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3324225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Heart Rate Sensor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793790" y="3723680"/>
            <a:ext cx="3107055" cy="85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Monitors BPM in real time — elevated heart rate is a primary panic indicator.</a:t>
            </a:r>
            <a:endParaRPr lang="en-US" sz="15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5632" y="1957507"/>
            <a:ext cx="1162050" cy="11620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05632" y="3324344"/>
            <a:ext cx="2509838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Temperature Sensor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4105632" y="3723799"/>
            <a:ext cx="3107174" cy="85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Detects abnormal body temperature spikes that may correlate with stress or fear.</a:t>
            </a:r>
            <a:endParaRPr lang="en-US" sz="15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7594" y="1957507"/>
            <a:ext cx="1161931" cy="116193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417594" y="3324225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Accelerometer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7417594" y="3723680"/>
            <a:ext cx="3107055" cy="85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Captures motion patterns — sudden running, falls, or erratic movement trigger analysis.</a:t>
            </a:r>
            <a:endParaRPr lang="en-US" sz="15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29436" y="1957507"/>
            <a:ext cx="1162050" cy="11620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729436" y="3324344"/>
            <a:ext cx="2419350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GPS + GSM Modules</a:t>
            </a:r>
            <a:endParaRPr lang="en-US" sz="1850" dirty="0"/>
          </a:p>
        </p:txBody>
      </p:sp>
      <p:sp>
        <p:nvSpPr>
          <p:cNvPr id="16" name="Text 10"/>
          <p:cNvSpPr/>
          <p:nvPr/>
        </p:nvSpPr>
        <p:spPr>
          <a:xfrm>
            <a:off x="10729436" y="3723799"/>
            <a:ext cx="3107174" cy="85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GPS pinpoints location; GSM sends SMS alerts and triggers emergency calls.</a:t>
            </a:r>
            <a:endParaRPr lang="en-US" sz="15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90" y="4907280"/>
            <a:ext cx="1161931" cy="1161931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93790" y="6273998"/>
            <a:ext cx="3000732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Microcontroller (ESP32)</a:t>
            </a:r>
            <a:endParaRPr lang="en-US" sz="1850" dirty="0"/>
          </a:p>
        </p:txBody>
      </p:sp>
      <p:sp>
        <p:nvSpPr>
          <p:cNvPr id="19" name="Text 12"/>
          <p:cNvSpPr/>
          <p:nvPr/>
        </p:nvSpPr>
        <p:spPr>
          <a:xfrm>
            <a:off x="793790" y="6673453"/>
            <a:ext cx="3107055" cy="85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Central processing unit — aggregates sensor data and runs the AI inference model.</a:t>
            </a:r>
            <a:endParaRPr lang="en-US" sz="15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5D6E19B-EDA6-6BC1-5E0A-5129BDFF333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53178" y="7233849"/>
            <a:ext cx="2791215" cy="8668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6835" y="311825"/>
            <a:ext cx="644128" cy="191929"/>
          </a:xfrm>
          <a:prstGeom prst="roundRect">
            <a:avLst>
              <a:gd name="adj" fmla="val 42546"/>
            </a:avLst>
          </a:prstGeom>
          <a:noFill/>
          <a:ln w="7620">
            <a:solidFill>
              <a:srgbClr val="4389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2440" y="353378"/>
            <a:ext cx="492919" cy="108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00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SOFTWARE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96835" y="526375"/>
            <a:ext cx="371344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Software Stack &amp; AI Logic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96835" y="1855232"/>
            <a:ext cx="1599724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36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Software Components</a:t>
            </a:r>
          </a:p>
          <a:p>
            <a:pPr marL="0" indent="0" algn="l">
              <a:lnSpc>
                <a:spcPts val="1350"/>
              </a:lnSpc>
              <a:buNone/>
            </a:pPr>
            <a:endParaRPr lang="en-US" sz="3600" b="1" dirty="0">
              <a:solidFill>
                <a:srgbClr val="3B4540"/>
              </a:solidFill>
              <a:latin typeface="Fraunces Extra Bold" pitchFamily="34" charset="0"/>
            </a:endParaRPr>
          </a:p>
          <a:p>
            <a:pPr marL="0" indent="0" algn="l">
              <a:lnSpc>
                <a:spcPts val="1350"/>
              </a:lnSpc>
              <a:buNone/>
            </a:pPr>
            <a:endParaRPr lang="en-US" sz="3600" b="1" dirty="0">
              <a:solidFill>
                <a:srgbClr val="3B4540"/>
              </a:solidFill>
              <a:latin typeface="Fraunces Extra Bold" pitchFamily="34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3369" y="2691939"/>
            <a:ext cx="170021" cy="170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9362" y="2686284"/>
            <a:ext cx="6411516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6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AI/ML Panic Detection Model</a:t>
            </a: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— </a:t>
            </a: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trained on physiological and motion </a:t>
            </a:r>
          </a:p>
          <a:p>
            <a:pPr marL="0" indent="0" algn="l">
              <a:lnSpc>
                <a:spcPts val="105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datasets to classify normal vs. distress states.</a:t>
            </a:r>
          </a:p>
          <a:p>
            <a:pPr marL="0" indent="0" algn="l">
              <a:lnSpc>
                <a:spcPts val="1050"/>
              </a:lnSpc>
              <a:buNone/>
            </a:pPr>
            <a:endParaRPr lang="en-US" sz="1400" dirty="0">
              <a:solidFill>
                <a:srgbClr val="405449"/>
              </a:solidFill>
              <a:latin typeface="Nobile" pitchFamily="34" charset="0"/>
            </a:endParaRPr>
          </a:p>
          <a:p>
            <a:pPr marL="0" indent="0" algn="l">
              <a:lnSpc>
                <a:spcPts val="1050"/>
              </a:lnSpc>
              <a:buNone/>
            </a:pPr>
            <a:endParaRPr lang="en-US" sz="1400" dirty="0">
              <a:solidFill>
                <a:srgbClr val="405449"/>
              </a:solidFill>
              <a:latin typeface="Nobile" pitchFamily="34" charset="0"/>
            </a:endParaRPr>
          </a:p>
          <a:p>
            <a:pPr marL="0" indent="0" algn="l">
              <a:lnSpc>
                <a:spcPts val="1050"/>
              </a:lnSpc>
              <a:buNone/>
            </a:pP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3369" y="3151163"/>
            <a:ext cx="170021" cy="17002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09362" y="3145508"/>
            <a:ext cx="6411516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6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Android Mobile App</a:t>
            </a: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displays live status, location map, and</a:t>
            </a:r>
          </a:p>
          <a:p>
            <a:pPr marL="0" indent="0" algn="l">
              <a:lnSpc>
                <a:spcPts val="105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manages emergency contacts.</a:t>
            </a:r>
            <a:endParaRPr lang="en-US" sz="1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3369" y="3610387"/>
            <a:ext cx="170021" cy="17002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9362" y="3604732"/>
            <a:ext cx="6411516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6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Embedded Firmware</a:t>
            </a: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— </a:t>
            </a: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Arduino IDE-based code running on ESP32 for real-time </a:t>
            </a:r>
          </a:p>
          <a:p>
            <a:pPr marL="0" indent="0" algn="l">
              <a:lnSpc>
                <a:spcPts val="105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sensor polling.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7461171" y="1022390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24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AI Decision Flow</a:t>
            </a:r>
            <a:endParaRPr lang="en-US" sz="2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0448" y="1599648"/>
            <a:ext cx="6629952" cy="66299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758" y="592812"/>
            <a:ext cx="2001083" cy="382429"/>
          </a:xfrm>
          <a:prstGeom prst="roundRect">
            <a:avLst>
              <a:gd name="adj" fmla="val 39369"/>
            </a:avLst>
          </a:prstGeom>
          <a:solidFill>
            <a:srgbClr val="DDEEE0"/>
          </a:solidFill>
          <a:ln/>
        </p:spPr>
      </p:sp>
      <p:sp>
        <p:nvSpPr>
          <p:cNvPr id="3" name="Text 1"/>
          <p:cNvSpPr/>
          <p:nvPr/>
        </p:nvSpPr>
        <p:spPr>
          <a:xfrm>
            <a:off x="857131" y="655439"/>
            <a:ext cx="175033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WORKING PRINCIPLE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758" y="1052274"/>
            <a:ext cx="7871936" cy="653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How the Smart Slipper Works</a:t>
            </a:r>
            <a:endParaRPr lang="en-US" sz="4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618" y="1994773"/>
            <a:ext cx="12745164" cy="4782503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827064" y="3212962"/>
            <a:ext cx="658330" cy="65833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240533" y="5616279"/>
            <a:ext cx="1922325" cy="370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Response</a:t>
            </a:r>
            <a:endParaRPr lang="en-US" sz="2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16959" y="3214197"/>
            <a:ext cx="658330" cy="65833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817879" y="5616279"/>
            <a:ext cx="1922324" cy="370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Alert</a:t>
            </a:r>
            <a:endParaRPr lang="en-US" sz="23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07470" y="3214197"/>
            <a:ext cx="658331" cy="65833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408390" y="5616279"/>
            <a:ext cx="1922324" cy="370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AI Analysis</a:t>
            </a:r>
            <a:endParaRPr lang="en-US" sz="23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97982" y="3214197"/>
            <a:ext cx="658330" cy="65833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3998901" y="5616279"/>
            <a:ext cx="1922325" cy="370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Aggregation</a:t>
            </a:r>
            <a:endParaRPr lang="en-US" sz="23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175327" y="3214197"/>
            <a:ext cx="658330" cy="65833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536746" y="5616279"/>
            <a:ext cx="1922324" cy="370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Monitoring</a:t>
            </a:r>
            <a:endParaRPr lang="en-US" sz="2300" dirty="0"/>
          </a:p>
        </p:txBody>
      </p:sp>
      <p:sp>
        <p:nvSpPr>
          <p:cNvPr id="16" name="Text 8"/>
          <p:cNvSpPr/>
          <p:nvPr/>
        </p:nvSpPr>
        <p:spPr>
          <a:xfrm>
            <a:off x="942618" y="6967276"/>
            <a:ext cx="13166884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entire pipeline operates autonomously — from first sensor reading to emergency notification — typically within seconds, ensuring no delay in critical situations.</a:t>
            </a:r>
            <a:endParaRPr lang="en-US" b="1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5462710-314A-2588-5911-EEDD31C540B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767250" y="7288626"/>
            <a:ext cx="2791215" cy="86689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84E4602-DEA6-3FA9-892E-5103606230E7}"/>
              </a:ext>
            </a:extLst>
          </p:cNvPr>
          <p:cNvSpPr txBox="1"/>
          <p:nvPr/>
        </p:nvSpPr>
        <p:spPr>
          <a:xfrm>
            <a:off x="3129905" y="6276535"/>
            <a:ext cx="90263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Eras Bold ITC" panose="020B0907030504020204" pitchFamily="34" charset="0"/>
              </a:rPr>
              <a:t>“Safety you wear, intelligence that protects.”</a:t>
            </a:r>
            <a:endParaRPr lang="en-IN" sz="2800" dirty="0">
              <a:solidFill>
                <a:schemeClr val="accent6">
                  <a:lumMod val="50000"/>
                </a:schemeClr>
              </a:solidFill>
              <a:latin typeface="Eras Bold ITC" panose="020B0907030504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6642" y="668060"/>
            <a:ext cx="1256824" cy="245150"/>
          </a:xfrm>
          <a:prstGeom prst="roundRect">
            <a:avLst>
              <a:gd name="adj" fmla="val 41272"/>
            </a:avLst>
          </a:prstGeom>
          <a:noFill/>
          <a:ln w="7620">
            <a:solidFill>
              <a:srgbClr val="4389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8558" y="717828"/>
            <a:ext cx="1072991" cy="145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50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PROGRESS UPDATE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56642" y="947976"/>
            <a:ext cx="4594741" cy="439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Implementation Progress Output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3246" y="228704"/>
            <a:ext cx="2301868" cy="153457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1D84BDC-9E29-0E69-2FD6-F2B365B485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97176" y="7353916"/>
            <a:ext cx="2791215" cy="86689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8AE4EBD-037F-4029-CFF4-5808C779B04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4464" r="7917"/>
          <a:stretch>
            <a:fillRect/>
          </a:stretch>
        </p:blipFill>
        <p:spPr>
          <a:xfrm>
            <a:off x="1324303" y="1628933"/>
            <a:ext cx="5299388" cy="615843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3A51CA63-F07E-2D57-EC21-8ABE06F5FC55}"/>
              </a:ext>
            </a:extLst>
          </p:cNvPr>
          <p:cNvSpPr txBox="1"/>
          <p:nvPr/>
        </p:nvSpPr>
        <p:spPr>
          <a:xfrm>
            <a:off x="6623691" y="1767670"/>
            <a:ext cx="73152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Eras Bold ITC" panose="020B0907030504020204" pitchFamily="34" charset="0"/>
              </a:rPr>
              <a:t>“This prototype demonstrates that safety can be embedded into everyday wear, making protection continuous, intelligent, and effortless with real-time emergency response. ”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B8B5859-5C2E-7890-E5BB-7A075C2595C6}"/>
              </a:ext>
            </a:extLst>
          </p:cNvPr>
          <p:cNvSpPr txBox="1"/>
          <p:nvPr/>
        </p:nvSpPr>
        <p:spPr>
          <a:xfrm>
            <a:off x="6623691" y="4313658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👟 Working Model: AI-Based Smart Safety Slipper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2582558-C956-A223-ED70-E0982772D249}"/>
              </a:ext>
            </a:extLst>
          </p:cNvPr>
          <p:cNvSpPr txBox="1"/>
          <p:nvPr/>
        </p:nvSpPr>
        <p:spPr>
          <a:xfrm>
            <a:off x="7173191" y="4996368"/>
            <a:ext cx="731520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i="1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👟 Smart Wearable Design</a:t>
            </a:r>
            <a:br>
              <a:rPr lang="en-IN" sz="2400" b="1" i="1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</a:br>
            <a:r>
              <a:rPr lang="en-IN" sz="2400" b="1" i="1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⚡ Real-Time Monitoring</a:t>
            </a:r>
            <a:br>
              <a:rPr lang="en-IN" sz="2400" b="1" i="1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</a:br>
            <a:r>
              <a:rPr lang="en-IN" sz="2400" b="1" i="1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🚨 Instant Emergency Response</a:t>
            </a:r>
            <a:br>
              <a:rPr lang="en-IN" sz="2400" b="1" i="1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</a:br>
            <a:r>
              <a:rPr lang="en-IN" sz="2400" b="1" i="1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🧠 Intelligent Detection System</a:t>
            </a:r>
            <a:br>
              <a:rPr lang="en-IN" sz="2400" b="1" i="1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</a:br>
            <a:r>
              <a:rPr lang="en-IN" sz="2400" b="1" i="1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🔋 Efficient &amp; Reliable System</a:t>
            </a:r>
            <a:br>
              <a:rPr lang="en-IN" dirty="0"/>
            </a:br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562E2F5-3473-387E-5BF0-B5878B0476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235" y="45353"/>
            <a:ext cx="11613930" cy="72771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D3F699-8520-BB04-11AA-84F98350E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13324" y="7788167"/>
            <a:ext cx="2526353" cy="3960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B01E09D-879C-26FB-D144-66C24BDE8668}"/>
              </a:ext>
            </a:extLst>
          </p:cNvPr>
          <p:cNvSpPr txBox="1"/>
          <p:nvPr/>
        </p:nvSpPr>
        <p:spPr>
          <a:xfrm>
            <a:off x="3205655" y="7322513"/>
            <a:ext cx="8219090" cy="721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“This architecture shows how our system moves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Arial Black" panose="020B0A04020102020204" pitchFamily="34" charset="0"/>
              </a:rPr>
              <a:t>from sensing → intelligence → action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, making safety proactive instead of reactive.”</a:t>
            </a:r>
            <a:endParaRPr lang="en-IN" sz="2000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3090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43664"/>
            <a:ext cx="2238494" cy="426244"/>
          </a:xfrm>
          <a:prstGeom prst="roundRect">
            <a:avLst>
              <a:gd name="adj" fmla="val 38315"/>
            </a:avLst>
          </a:prstGeom>
          <a:solidFill>
            <a:srgbClr val="DDEEE0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811649"/>
            <a:ext cx="196631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EXPECTED OUTCOMES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260634"/>
            <a:ext cx="717089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What Success Looks Like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1082566" y="2199867"/>
            <a:ext cx="6090831" cy="445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0s</a:t>
            </a:r>
            <a:endParaRPr lang="en-US" sz="5850" dirty="0"/>
          </a:p>
        </p:txBody>
      </p:sp>
      <p:sp>
        <p:nvSpPr>
          <p:cNvPr id="6" name="Text 4"/>
          <p:cNvSpPr/>
          <p:nvPr/>
        </p:nvSpPr>
        <p:spPr>
          <a:xfrm>
            <a:off x="2694254" y="3231661"/>
            <a:ext cx="2706897" cy="21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Manual Input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82566" y="3722080"/>
            <a:ext cx="6090831" cy="431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Fully automatic — no button press required to trigger an alert.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745664" y="2199867"/>
            <a:ext cx="6090945" cy="445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3</a:t>
            </a:r>
            <a:endParaRPr lang="en-US" sz="5850" dirty="0"/>
          </a:p>
        </p:txBody>
      </p:sp>
      <p:sp>
        <p:nvSpPr>
          <p:cNvPr id="9" name="Text 7"/>
          <p:cNvSpPr/>
          <p:nvPr/>
        </p:nvSpPr>
        <p:spPr>
          <a:xfrm>
            <a:off x="9357468" y="3231661"/>
            <a:ext cx="2706897" cy="21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Alert Channels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45664" y="3722080"/>
            <a:ext cx="6090945" cy="431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SOS SMS, live GPS share, and emergency call dispatched simultaneously.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082566" y="5014862"/>
            <a:ext cx="6090831" cy="445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24/7</a:t>
            </a:r>
            <a:endParaRPr lang="en-US" sz="5850" dirty="0"/>
          </a:p>
        </p:txBody>
      </p:sp>
      <p:sp>
        <p:nvSpPr>
          <p:cNvPr id="12" name="Text 10"/>
          <p:cNvSpPr/>
          <p:nvPr/>
        </p:nvSpPr>
        <p:spPr>
          <a:xfrm>
            <a:off x="2694254" y="6046656"/>
            <a:ext cx="2706897" cy="21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Monitoring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82566" y="6537075"/>
            <a:ext cx="6090831" cy="431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Continuous sensor surveillance ensures no panic event goes undetected.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745664" y="5014862"/>
            <a:ext cx="6090945" cy="445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&lt;5s</a:t>
            </a:r>
            <a:endParaRPr lang="en-US" sz="5850" dirty="0"/>
          </a:p>
        </p:txBody>
      </p:sp>
      <p:sp>
        <p:nvSpPr>
          <p:cNvPr id="15" name="Text 13"/>
          <p:cNvSpPr/>
          <p:nvPr/>
        </p:nvSpPr>
        <p:spPr>
          <a:xfrm>
            <a:off x="9357468" y="6046656"/>
            <a:ext cx="2706897" cy="21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Response Time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745664" y="6537076"/>
            <a:ext cx="6090945" cy="215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Target alert dispatch within seconds of panic detection.</a:t>
            </a:r>
            <a:endParaRPr lang="en-US" sz="17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28B7C70-9D31-1129-97B7-009497C0D2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39185" y="7262880"/>
            <a:ext cx="2791215" cy="86689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933807"/>
            <a:ext cx="1710809" cy="413147"/>
          </a:xfrm>
          <a:prstGeom prst="roundRect">
            <a:avLst>
              <a:gd name="adj" fmla="val 37553"/>
            </a:avLst>
          </a:prstGeom>
          <a:noFill/>
          <a:ln w="7620">
            <a:solidFill>
              <a:srgbClr val="4389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0592" y="1005959"/>
            <a:ext cx="1437203" cy="26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LOOKING AHEAD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93790" y="1428750"/>
            <a:ext cx="7239595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Challenges &amp; Future Scope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93790" y="2613898"/>
            <a:ext cx="3039666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⚠️</a:t>
            </a:r>
            <a:r>
              <a:rPr lang="en-US" sz="21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 Current Challenges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93790" y="3188375"/>
            <a:ext cx="3026926" cy="1836182"/>
          </a:xfrm>
          <a:prstGeom prst="roundRect">
            <a:avLst>
              <a:gd name="adj" fmla="val 10562"/>
            </a:avLst>
          </a:prstGeom>
          <a:solidFill>
            <a:srgbClr val="FAFFFA"/>
          </a:solidFill>
          <a:ln w="30480">
            <a:solidFill>
              <a:srgbClr val="CED9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9654" y="3434239"/>
            <a:ext cx="2535198" cy="1344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Sensor Accuracy</a:t>
            </a: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Noise and environmental factors can affect readings.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4025384" y="3188375"/>
            <a:ext cx="3026926" cy="1836182"/>
          </a:xfrm>
          <a:prstGeom prst="roundRect">
            <a:avLst>
              <a:gd name="adj" fmla="val 10562"/>
            </a:avLst>
          </a:prstGeom>
          <a:solidFill>
            <a:srgbClr val="FAFFFA"/>
          </a:solidFill>
          <a:ln w="30480">
            <a:solidFill>
              <a:srgbClr val="CED9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71248" y="3434239"/>
            <a:ext cx="2535198" cy="1344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Power Management</a:t>
            </a: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Continuous monitoring requires efficient battery usage.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793790" y="5229225"/>
            <a:ext cx="3026926" cy="1836182"/>
          </a:xfrm>
          <a:prstGeom prst="roundRect">
            <a:avLst>
              <a:gd name="adj" fmla="val 10562"/>
            </a:avLst>
          </a:prstGeom>
          <a:solidFill>
            <a:srgbClr val="FAFFFA"/>
          </a:solidFill>
          <a:ln w="30480">
            <a:solidFill>
              <a:srgbClr val="CED9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9654" y="5475089"/>
            <a:ext cx="2535198" cy="1344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False Positives</a:t>
            </a: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Distinguishing exercise from panic needs robust AI training.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4025384" y="5229225"/>
            <a:ext cx="3026926" cy="1836182"/>
          </a:xfrm>
          <a:prstGeom prst="roundRect">
            <a:avLst>
              <a:gd name="adj" fmla="val 10562"/>
            </a:avLst>
          </a:prstGeom>
          <a:solidFill>
            <a:srgbClr val="FAFFFA"/>
          </a:solidFill>
          <a:ln w="30480">
            <a:solidFill>
              <a:srgbClr val="CED9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71248" y="5475089"/>
            <a:ext cx="2535198" cy="1344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Network Dependency</a:t>
            </a: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GSM/GPS requires cellular coverage in the area.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7585710" y="2613898"/>
            <a:ext cx="3410783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🚀</a:t>
            </a:r>
            <a:r>
              <a:rPr lang="en-US" sz="21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 Future Enhancements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7585710" y="3188375"/>
            <a:ext cx="3026926" cy="1500068"/>
          </a:xfrm>
          <a:prstGeom prst="roundRect">
            <a:avLst>
              <a:gd name="adj" fmla="val 12929"/>
            </a:avLst>
          </a:prstGeom>
          <a:solidFill>
            <a:srgbClr val="FAFFFA"/>
          </a:solidFill>
          <a:ln w="30480">
            <a:solidFill>
              <a:srgbClr val="CED9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31574" y="3434239"/>
            <a:ext cx="2535198" cy="100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Police Integration</a:t>
            </a: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Direct API connection to emergency services.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0817304" y="3188375"/>
            <a:ext cx="3026926" cy="1500068"/>
          </a:xfrm>
          <a:prstGeom prst="roundRect">
            <a:avLst>
              <a:gd name="adj" fmla="val 12929"/>
            </a:avLst>
          </a:prstGeom>
          <a:solidFill>
            <a:srgbClr val="FAFFFA"/>
          </a:solidFill>
          <a:ln w="30480">
            <a:solidFill>
              <a:srgbClr val="CED9C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063168" y="3434239"/>
            <a:ext cx="2535198" cy="100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Voice Alerts</a:t>
            </a: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Built-in speaker for audible SOS or deterrent alarm.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7585710" y="4893112"/>
            <a:ext cx="3026926" cy="1836182"/>
          </a:xfrm>
          <a:prstGeom prst="roundRect">
            <a:avLst>
              <a:gd name="adj" fmla="val 10562"/>
            </a:avLst>
          </a:prstGeom>
          <a:solidFill>
            <a:srgbClr val="FAFFFA"/>
          </a:solidFill>
          <a:ln w="30480">
            <a:solidFill>
              <a:srgbClr val="CED9C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31574" y="5138976"/>
            <a:ext cx="2535198" cy="100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Cloud IoT Dashboard</a:t>
            </a: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Remote monitoring and historical data analytics.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0817304" y="4893112"/>
            <a:ext cx="3026926" cy="1836182"/>
          </a:xfrm>
          <a:prstGeom prst="roundRect">
            <a:avLst>
              <a:gd name="adj" fmla="val 10562"/>
            </a:avLst>
          </a:prstGeom>
          <a:solidFill>
            <a:srgbClr val="FAFFFA"/>
          </a:solidFill>
          <a:ln w="30480">
            <a:solidFill>
              <a:srgbClr val="CED9C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063168" y="5138976"/>
            <a:ext cx="2535198" cy="1344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Improved AI Model</a:t>
            </a: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Federated learning for personalized panic thresholds.</a:t>
            </a:r>
            <a:endParaRPr lang="en-US" sz="16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13F5038-9D3E-F624-8931-49B8697BA0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39185" y="7362704"/>
            <a:ext cx="2791215" cy="86689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775460"/>
            <a:ext cx="1898094" cy="426244"/>
          </a:xfrm>
          <a:prstGeom prst="roundRect">
            <a:avLst>
              <a:gd name="adj" fmla="val 38315"/>
            </a:avLst>
          </a:prstGeom>
          <a:solidFill>
            <a:srgbClr val="DDEEE0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843445"/>
            <a:ext cx="162591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DOCUMENTATION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29242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References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3341370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Key research papers, technical documentation, and open-source projects that informed the development of the AI-Based Women Safety Smart Slipper.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322326"/>
            <a:ext cx="13042821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u="sng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AI-based Real-time Panic Detection for Wearable Devices</a:t>
            </a: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- IEEE Xplore, 2018.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u="sng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Arduino IDE Documentation</a:t>
            </a: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- Official Arduino Documentation for ESP32 firmware development.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u="sng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ESP32 Datasheet &amp; Technical Reference Manual</a:t>
            </a: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- Espressif Systems.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u="sng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Android Developers Documentation</a:t>
            </a: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- Guides and API references for mobile application development.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u="sng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TinyML: Machine Learning for Tiny Devices</a:t>
            </a: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- Resources and projects for on-device AI inference.</a:t>
            </a:r>
            <a:endParaRPr lang="en-US" sz="17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1393C8-C5CD-FE10-AC09-0D55263ECE7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31812" y="7325918"/>
            <a:ext cx="2791215" cy="8668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764</Words>
  <Application>Microsoft Office PowerPoint</Application>
  <PresentationFormat>Custom</PresentationFormat>
  <Paragraphs>112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Nobile</vt:lpstr>
      <vt:lpstr>Eras Bold ITC</vt:lpstr>
      <vt:lpstr>Arial Black</vt:lpstr>
      <vt:lpstr>Arial</vt:lpstr>
      <vt:lpstr>Aptos</vt:lpstr>
      <vt:lpstr>Fraunces Extra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surya prabha</dc:creator>
  <cp:lastModifiedBy>Surya Prabha</cp:lastModifiedBy>
  <cp:revision>12</cp:revision>
  <dcterms:created xsi:type="dcterms:W3CDTF">2026-04-16T14:06:38Z</dcterms:created>
  <dcterms:modified xsi:type="dcterms:W3CDTF">2026-04-16T18:41:35Z</dcterms:modified>
</cp:coreProperties>
</file>